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Hoji Backend Base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Boot + Kotlin 기반 백엔드 베이스 프로젝트 상세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프로젝트 개요</a:t>
            </a:r>
          </a:p>
          <a:p>
            <a:pPr>
              <a:defRPr sz="2000"/>
            </a:pPr>
            <a:r>
              <a:t>2. 아키텍처 구조</a:t>
            </a:r>
          </a:p>
          <a:p>
            <a:pPr>
              <a:defRPr sz="2000"/>
            </a:pPr>
            <a:r>
              <a:t>3. 공통 모듈 (Common)</a:t>
            </a:r>
          </a:p>
          <a:p>
            <a:pPr lvl="1">
              <a:defRPr sz="1600"/>
            </a:pPr>
            <a:r>
              <a:t>DTO, Exception, Logging, Context, Metrics, Health, Util</a:t>
            </a:r>
          </a:p>
          <a:p>
            <a:pPr>
              <a:defRPr sz="2000"/>
            </a:pPr>
            <a:r>
              <a:t>4. 설정 모듈 (Config)</a:t>
            </a:r>
          </a:p>
          <a:p>
            <a:pPr lvl="1">
              <a:defRPr sz="1600"/>
            </a:pPr>
            <a:r>
              <a:t>JPA, QueryDSL, Redis, RabbitMQ, WebClient, Async, CORS 등</a:t>
            </a:r>
          </a:p>
          <a:p>
            <a:pPr>
              <a:defRPr sz="2000"/>
            </a:pPr>
            <a:r>
              <a:t>5. 도메인 모듈 (Domain)</a:t>
            </a:r>
          </a:p>
          <a:p>
            <a:pPr>
              <a:defRPr sz="2000"/>
            </a:pPr>
            <a:r>
              <a:t>6. 레포지토리, 서비스, 컨트롤러</a:t>
            </a:r>
          </a:p>
          <a:p>
            <a:pPr>
              <a:defRPr sz="2000"/>
            </a:pPr>
            <a:r>
              <a:t>7. 운영 고려사항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기술 스택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코어 기술</a:t>
            </a:r>
          </a:p>
          <a:p>
            <a:pPr lvl="1">
              <a:defRPr sz="1600"/>
            </a:pPr>
            <a:r>
              <a:t>Java 17 + Kotlin 1.9.20</a:t>
            </a:r>
          </a:p>
          <a:p>
            <a:pPr lvl="1">
              <a:defRPr sz="1600"/>
            </a:pPr>
            <a:r>
              <a:t>Spring Boot 3.2.0</a:t>
            </a:r>
          </a:p>
          <a:p>
            <a:pPr lvl="1">
              <a:defRPr sz="1600"/>
            </a:pPr>
            <a:r>
              <a:t>Gradle 8.5 (Kotlin DSL)</a:t>
            </a:r>
          </a:p>
          <a:p>
            <a:pPr>
              <a:defRPr sz="1400"/>
            </a:pPr>
          </a:p>
          <a:p>
            <a:pPr>
              <a:defRPr sz="2000"/>
            </a:pPr>
            <a:r>
              <a:t>Database &amp; ORM</a:t>
            </a:r>
          </a:p>
          <a:p>
            <a:pPr lvl="1">
              <a:defRPr sz="1600"/>
            </a:pPr>
            <a:r>
              <a:t>H2 (In-Memory)</a:t>
            </a:r>
          </a:p>
          <a:p>
            <a:pPr lvl="1">
              <a:defRPr sz="1600"/>
            </a:pPr>
            <a:r>
              <a:t>Spring Data JPA + QueryDSL</a:t>
            </a:r>
          </a:p>
          <a:p>
            <a:pPr>
              <a:defRPr sz="1400"/>
            </a:pPr>
          </a:p>
          <a:p>
            <a:pPr>
              <a:defRPr sz="2000"/>
            </a:pPr>
            <a:r>
              <a:t>Infra &amp; Monitoring</a:t>
            </a:r>
          </a:p>
          <a:p>
            <a:pPr lvl="1">
              <a:defRPr sz="1600"/>
            </a:pPr>
            <a:r>
              <a:t>Redis, RabbitMQ</a:t>
            </a:r>
          </a:p>
          <a:p>
            <a:pPr lvl="1">
              <a:defRPr sz="1600"/>
            </a:pPr>
            <a:r>
              <a:t>Micrometer + Prometheus</a:t>
            </a:r>
          </a:p>
          <a:p>
            <a:pPr lvl="1">
              <a:defRPr sz="1600"/>
            </a:pPr>
            <a:r>
              <a:t>Logback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상용 서비스를 위한 견고한 기반 제공</a:t>
            </a:r>
          </a:p>
          <a:p>
            <a:pPr lvl="1">
              <a:defRPr sz="1600"/>
            </a:pPr>
            <a:r>
              <a:t>일관된 응답 구조 및 예외 처리</a:t>
            </a:r>
          </a:p>
          <a:p>
            <a:pPr lvl="1">
              <a:defRPr sz="1600"/>
            </a:pPr>
            <a:r>
              <a:t>포괄적인 로깅 및 모니터링</a:t>
            </a:r>
          </a:p>
          <a:p>
            <a:pPr lvl="1">
              <a:defRPr sz="1600"/>
            </a:pPr>
            <a:r>
              <a:t>멀티 인스턴스 환경 지원</a:t>
            </a:r>
          </a:p>
          <a:p>
            <a:pPr>
              <a:defRPr sz="1400"/>
            </a:pPr>
          </a:p>
          <a:p>
            <a:pPr>
              <a:defRPr sz="1800"/>
            </a:pPr>
            <a:r>
              <a:t>확장 가능하고 유지보수가 용이한 구조</a:t>
            </a:r>
          </a:p>
          <a:p>
            <a:pPr lvl="1">
              <a:defRPr sz="1600"/>
            </a:pPr>
            <a:r>
              <a:t>모듈화된 패키지 구조</a:t>
            </a:r>
          </a:p>
          <a:p>
            <a:pPr lvl="1">
              <a:defRPr sz="1600"/>
            </a:pPr>
            <a:r>
              <a:t>환경별 설정 분리 (Local, Dev, Prod)</a:t>
            </a:r>
          </a:p>
          <a:p>
            <a:pPr>
              <a:defRPr sz="1400"/>
            </a:pPr>
          </a:p>
          <a:p>
            <a:pPr>
              <a:defRPr sz="1800"/>
            </a:pPr>
            <a:r>
              <a:t>운영 편의성</a:t>
            </a:r>
          </a:p>
          <a:p>
            <a:pPr lvl="1">
              <a:defRPr sz="1600"/>
            </a:pPr>
            <a:r>
              <a:t>Health Check, Graceful Shutdown</a:t>
            </a:r>
          </a:p>
          <a:p>
            <a:pPr lvl="1">
              <a:defRPr sz="1600"/>
            </a:pPr>
            <a:r>
              <a:t>JPA Auditing, Async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아키텍처 구조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패키지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common/ - 공통 기능 모듈</a:t>
            </a:r>
          </a:p>
          <a:p>
            <a:pPr lvl="1">
              <a:defRPr sz="1400"/>
            </a:pPr>
            <a:r>
              <a:t>dto, exception, logging, context, metrics, health, util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config/ - 설정 모듈</a:t>
            </a:r>
          </a:p>
          <a:p>
            <a:pPr lvl="1">
              <a:defRPr sz="1400"/>
            </a:pPr>
            <a:r>
              <a:t>JPA, QueryDSL, Redis, RabbitMQ, WebClient, Async, CORS, Metrics, Swagger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domain/ - 도메인 엔티티</a:t>
            </a:r>
          </a:p>
          <a:p>
            <a:pPr lvl="1">
              <a:defRPr sz="1400"/>
            </a:pPr>
            <a:r>
              <a:t>BaseEntity (공통), User (예제)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repository/ - 데이터 액세스</a:t>
            </a:r>
          </a:p>
          <a:p>
            <a:pPr>
              <a:defRPr sz="1800"/>
            </a:pPr>
            <a:r>
              <a:t>service/ - 비즈니스 로직</a:t>
            </a:r>
          </a:p>
          <a:p>
            <a:pPr>
              <a:defRPr sz="1800"/>
            </a:pPr>
            <a:r>
              <a:t>controller/ - API 엔드포인트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Common: DTO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com.hoji.common.dto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모든 API 응답을 일관된 구조로 래핑하는 제네릭 클래스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API 클라이언트가 모든 응답을 동일한 형태로 받아 처리할 수 있도록 표준화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일관된 응답 구조로 클라이언트 개발 용이</a:t>
            </a:r>
          </a:p>
          <a:p>
            <a:pPr lvl="1">
              <a:defRPr sz="1300"/>
            </a:pPr>
            <a:r>
              <a:t>• 성공/실패 여부, 에러 코드, 메시지를 표준화</a:t>
            </a:r>
          </a:p>
          <a:p>
            <a:pPr lvl="1">
              <a:defRPr sz="1300"/>
            </a:pPr>
            <a:r>
              <a:t>• 타임스탬프로 응답 시간 추적 가능</a:t>
            </a:r>
          </a:p>
          <a:p>
            <a:pPr lvl="1">
              <a:spcAft>
                <a:spcPts val="1000"/>
              </a:spcAft>
              <a:defRPr sz="1300"/>
            </a:pPr>
            <a:r>
              <a:t>• 제네릭을 통한 타입 안정성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HATEOAS, Problem Details (RFC 7807) 등이 있으나, 단순하고 직관적인 구조로 충분한 경우 현재 방식이 효율적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com.hoji.common.dto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응답 코드와 메시지를 정의하는 Enum 클래스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에러 코드를 중앙 집중식으로 관리하여 일관성 유지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코드와 메시지를 한 곳에서 관리</a:t>
            </a:r>
          </a:p>
          <a:p>
            <a:pPr lvl="1">
              <a:defRPr sz="1300"/>
            </a:pPr>
            <a:r>
              <a:t>• 오타나 중복 코드 방지</a:t>
            </a:r>
          </a:p>
          <a:p>
            <a:pPr lvl="1">
              <a:defRPr sz="1300"/>
            </a:pPr>
            <a:r>
              <a:t>• 다국어 지원 시 확장 용이</a:t>
            </a:r>
          </a:p>
          <a:p>
            <a:pPr lvl="1">
              <a:spcAft>
                <a:spcPts val="1000"/>
              </a:spcAft>
              <a:defRPr sz="1300"/>
            </a:pPr>
            <a:r>
              <a:t>• Enum의 타입 안정성 활용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외부 파일(YAML, properties) 관리도 가능하나, Enum 방식이 컴파일 타임 체크와 IDE 지원에 유리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Common: Exception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com.hoji.common.exception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비즈니스 로직에서 발생하는 예외를 표현하는 커스텀 예외 클래스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시스템 예외와 비즈니스 예외를 명확히 구분하여 적절한 처리 가능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ResultCode와 연동하여 일관된 에러 응답</a:t>
            </a:r>
          </a:p>
          <a:p>
            <a:pPr lvl="1">
              <a:defRPr sz="1300"/>
            </a:pPr>
            <a:r>
              <a:t>• 스택 트레이스 제어로 성능 최적화 가능</a:t>
            </a:r>
          </a:p>
          <a:p>
            <a:pPr lvl="1">
              <a:defRPr sz="1300"/>
            </a:pPr>
            <a:r>
              <a:t>• 명시적인 예외 타입으로 가독성 향상</a:t>
            </a:r>
          </a:p>
          <a:p>
            <a:pPr lvl="1">
              <a:spcAft>
                <a:spcPts val="1000"/>
              </a:spcAft>
              <a:defRPr sz="1300"/>
            </a:pPr>
            <a:r>
              <a:t>• 체크 예외가 아닌 런타임 예외로 보일러플레이트 감소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Vavr의 Try, Either 패턴도 고려 가능하나, Spring 환경에서는 예외 기반 처리가 더 자연스러움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GlobalExceptionHandler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com.hoji.common.exception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@RestControllerAdvice를 사용한 전역 예외 처리기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모든 컨트롤러에서 발생하는 예외를 한 곳에서 처리하여 일관된 에러 응답 제공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중복 예외 처리 코드 제거</a:t>
            </a:r>
          </a:p>
          <a:p>
            <a:pPr lvl="1">
              <a:defRPr sz="1300"/>
            </a:pPr>
            <a:r>
              <a:t>• 일관된 에러 응답 형식 보장</a:t>
            </a:r>
          </a:p>
          <a:p>
            <a:pPr lvl="1">
              <a:defRPr sz="1300"/>
            </a:pPr>
            <a:r>
              <a:t>• 환경별 에러 정보 노출 제어</a:t>
            </a:r>
          </a:p>
          <a:p>
            <a:pPr lvl="1">
              <a:spcAft>
                <a:spcPts val="1000"/>
              </a:spcAft>
              <a:defRPr sz="1300"/>
            </a:pPr>
            <a:r>
              <a:t>• 로깅과 예외 처리를 통합 관리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Spring의 표준 기능이며, ControllerAdvice가 최선의 방법. @ExceptionHandler 조합으로 세밀한 제어 가능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Common: Logging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LoggingInterceptor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com.hoji.common.logging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모든 HTTP 요청/응답을 자동으로 로깅하는 인터셉터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API 호출 추적, 디버깅, 성능 모니터링을 위한 상세 로그 제공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요청/응답 전체 정보 자동 로깅</a:t>
            </a:r>
          </a:p>
          <a:p>
            <a:pPr lvl="1">
              <a:defRPr sz="1300"/>
            </a:pPr>
            <a:r>
              <a:t>• 민감 정보(Authorization 등) 마스킹</a:t>
            </a:r>
          </a:p>
          <a:p>
            <a:pPr lvl="1">
              <a:defRPr sz="1300"/>
            </a:pPr>
            <a:r>
              <a:t>• 처리 시간 측정</a:t>
            </a:r>
          </a:p>
          <a:p>
            <a:pPr lvl="1">
              <a:spcAft>
                <a:spcPts val="1000"/>
              </a:spcAft>
              <a:defRPr sz="1300"/>
            </a:pPr>
            <a:r>
              <a:t>• 환경별 로깅 레벨 조정 가능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Cloud Sleuth + Zipkin (분산 추적), ELK Stack (중앙 로그 관리)과 조합 가능. 기본 로깅으로는 현재 방식이 적합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RequestResponseCachingFilter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com.hoji.common.logging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요청/응답 본문을 여러 번 읽을 수 있도록 캐싱하는 필터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Stream은 한 번만 읽을 수 있는데, 로깅과 실제 처리 모두에서 읽어야 하므로 캐싱 필요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요청/응답 본문을 중복 읽기 가능</a:t>
            </a:r>
          </a:p>
          <a:p>
            <a:pPr lvl="1">
              <a:defRPr sz="1300"/>
            </a:pPr>
            <a:r>
              <a:t>• 로깅 후에도 정상 처리 가능</a:t>
            </a:r>
          </a:p>
          <a:p>
            <a:pPr lvl="1">
              <a:spcAft>
                <a:spcPts val="1000"/>
              </a:spcAft>
              <a:defRPr sz="1300"/>
            </a:pPr>
            <a:r>
              <a:t>• ContentCachingWrapper 활용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필수적인 구현. 대안은 없으며 Spring이 제공하는 ContentCaching 클래스 활용이 표준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Common: Context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com.hoji.common.context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ThreadLocal을 사용하여 요청별 컨텍스트 정보를 저장하는 유틸리티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요청 ID, 사용자 ID 등을 서비스 레이어 깊숙이까지 파라미터 없이 전달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메서드 시그니처 오염 방지</a:t>
            </a:r>
          </a:p>
          <a:p>
            <a:pPr lvl="1">
              <a:defRPr sz="1300"/>
            </a:pPr>
            <a:r>
              <a:t>• 로깅, Auditing에서 사용자 정보 활용</a:t>
            </a:r>
          </a:p>
          <a:p>
            <a:pPr lvl="1">
              <a:defRPr sz="1300"/>
            </a:pPr>
            <a:r>
              <a:t>• 요청 추적을 위한 Request ID 관리</a:t>
            </a:r>
          </a:p>
          <a:p>
            <a:pPr lvl="1">
              <a:spcAft>
                <a:spcPts val="1000"/>
              </a:spcAft>
              <a:defRPr sz="1300"/>
            </a:pPr>
            <a:r>
              <a:t>• 메모리 누수 방지를 위한 cleanup 지원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Security의 SecurityContextHolder 패턴과 유사. 인증 정보는 SecurityContext, 기타 정보는 RequestContext 사용 권장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RequestContextInterceptor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com.hoji.common.context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HTTP 헤더에서 컨텍스트 정보를 추출하여 RequestContext에 저장하는 인터셉터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요청 시작 시 컨텍스트 초기화, 종료 시 cleanup 보장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자동으로 컨텍스트 생성/제거</a:t>
            </a:r>
          </a:p>
          <a:p>
            <a:pPr lvl="1">
              <a:defRPr sz="1300"/>
            </a:pPr>
            <a:r>
              <a:t>• 메모리 누수 방지</a:t>
            </a:r>
          </a:p>
          <a:p>
            <a:pPr lvl="1">
              <a:defRPr sz="1300"/>
            </a:pPr>
            <a:r>
              <a:t>• X-Request-ID, X-User-ID 헤더 처리</a:t>
            </a:r>
          </a:p>
          <a:p>
            <a:pPr lvl="1">
              <a:spcAft>
                <a:spcPts val="1000"/>
              </a:spcAft>
              <a:defRPr sz="1300"/>
            </a:pPr>
            <a:r>
              <a:t>• UUID 자동 생성으로 추적성 향상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Servlet Filter로도 구현 가능하나, Interceptor가 Spring MVC 통합에 유리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Common: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com.hoji.common.metrics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Micrometer를 래핑하여 비즈니스 메트릭을 쉽게 수집하는 유틸리티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개발자가 메트릭 수집 코드를 간단하게 작성할 수 있도록 추상화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API 호출, 비즈니스 이벤트, 에러 카운팅</a:t>
            </a:r>
          </a:p>
          <a:p>
            <a:pPr lvl="1">
              <a:defRPr sz="1300"/>
            </a:pPr>
            <a:r>
              <a:t>• 처리 시간 측정 (time 메서드)</a:t>
            </a:r>
          </a:p>
          <a:p>
            <a:pPr lvl="1">
              <a:defRPr sz="1300"/>
            </a:pPr>
            <a:r>
              <a:t>• Prometheus, Grafana와 연동</a:t>
            </a:r>
          </a:p>
          <a:p>
            <a:pPr lvl="1">
              <a:spcAft>
                <a:spcPts val="1000"/>
              </a:spcAft>
              <a:defRPr sz="1300"/>
            </a:pPr>
            <a:r>
              <a:t>• 멀티 인스턴스 환경에서 인스턴스별 추적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Micrometer 직접 사용도 가능하나, 공통 패턴을 래핑하여 일관성과 생산성 향상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MetricsInterceptor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com.hoji.common.metrics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모든 HTTP 요청에 대한 메트릭을 자동 수집하는 인터셉터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개발자가 별도 코드 없이도 API 호출 통계를 자동으로 수집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API 엔드포인트별 호출 횟수</a:t>
            </a:r>
          </a:p>
          <a:p>
            <a:pPr lvl="1">
              <a:defRPr sz="1300"/>
            </a:pPr>
            <a:r>
              <a:t>• HTTP 메서드, 상태 코드별 통계</a:t>
            </a:r>
          </a:p>
          <a:p>
            <a:pPr lvl="1">
              <a:defRPr sz="1300"/>
            </a:pPr>
            <a:r>
              <a:t>• 에러 발생 자동 추적</a:t>
            </a:r>
          </a:p>
          <a:p>
            <a:pPr lvl="1">
              <a:spcAft>
                <a:spcPts val="1000"/>
              </a:spcAft>
              <a:defRPr sz="1300"/>
            </a:pPr>
            <a:r>
              <a:t>• 처리 시간 측정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Boot Actuator의 기본 메트릭과 함께 사용. 커스텀 비즈니스 메트릭 추가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Common: Health &amp; Util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CustomHealthIndicator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com.hoji.common.health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Spring Boot Actuator의 HealthIndicator 구현체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Kubernetes liveness/readiness probe와 통합하여 무중단 배포 지원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표준 헬스 체크 인터페이스</a:t>
            </a:r>
          </a:p>
          <a:p>
            <a:pPr lvl="1">
              <a:defRPr sz="1300"/>
            </a:pPr>
            <a:r>
              <a:t>• Kubernetes와 네이티브 통합</a:t>
            </a:r>
          </a:p>
          <a:p>
            <a:pPr lvl="1">
              <a:defRPr sz="1300"/>
            </a:pPr>
            <a:r>
              <a:t>• 여러 HealthIndicator 자동 조합</a:t>
            </a:r>
          </a:p>
          <a:p>
            <a:pPr lvl="1">
              <a:spcAft>
                <a:spcPts val="1000"/>
              </a:spcAft>
              <a:defRPr sz="1300"/>
            </a:pPr>
            <a:r>
              <a:t>• 모니터링 도구와 연동 용이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Boot Actuator 표준 방식. 커스텀 헬스 체크 로직 추가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DateTimeUtils &amp; JsonUtils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com.hoji.common.util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날짜/시간 처리 및 JSON 변환을 위한 유틸리티 클래스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반복적인 날짜 포맷팅, JSON 변환 코드를 중앙화하여 일관성 유지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날짜 포맷팅, 파싱, 계산 통합</a:t>
            </a:r>
          </a:p>
          <a:p>
            <a:pPr lvl="1">
              <a:defRPr sz="1300"/>
            </a:pPr>
            <a:r>
              <a:t>• JSON 직렬화/역직렬화 간소화</a:t>
            </a:r>
          </a:p>
          <a:p>
            <a:pPr lvl="1">
              <a:defRPr sz="1300"/>
            </a:pPr>
            <a:r>
              <a:t>• ObjectMapper 설정 통합 관리</a:t>
            </a:r>
          </a:p>
          <a:p>
            <a:pPr lvl="1">
              <a:spcAft>
                <a:spcPts val="1000"/>
              </a:spcAft>
              <a:defRPr sz="1300"/>
            </a:pPr>
            <a:r>
              <a:t>• 테스트 용이성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Apache Commons, Joda Time 등도 있으나, Java 8+ LocalDateTime과 Jackson이면 충분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Config: 설정 모듈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JpaConfig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JPA 및 Hibernate 설정을 관리하는 설정 클래스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EntityManager, TransactionManager 등 JPA 핵심 컴포넌트 설정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@EnableJpaRepositories로 레포지토리 스캔</a:t>
            </a:r>
          </a:p>
          <a:p>
            <a:pPr lvl="1">
              <a:defRPr sz="1300"/>
            </a:pPr>
            <a:r>
              <a:t>• 데이터소스 및 트랜잭션 관리</a:t>
            </a:r>
          </a:p>
          <a:p>
            <a:pPr lvl="1">
              <a:defRPr sz="1300"/>
            </a:pPr>
            <a:r>
              <a:t>• Hibernate 프로퍼티 설정</a:t>
            </a:r>
          </a:p>
          <a:p>
            <a:pPr lvl="1">
              <a:spcAft>
                <a:spcPts val="1000"/>
              </a:spcAft>
              <a:defRPr sz="1300"/>
            </a:pPr>
            <a:r>
              <a:t>• 환경별 DDL 정책 제어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Boot의 자동 설정만으로도 충분하나, 세밀한 제어가 필요한 경우 명시적 설정 클래스 사용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AuditConfig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JPA Auditing 설정 (@EnableJpaAuditing)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엔티티의 생성/수정 정보를 자동으로 추적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createdBy, updatedBy 자동 설정</a:t>
            </a:r>
          </a:p>
          <a:p>
            <a:pPr lvl="1">
              <a:defRPr sz="1300"/>
            </a:pPr>
            <a:r>
              <a:t>• RequestContext와 통합하여 사용자 정보 주입</a:t>
            </a:r>
          </a:p>
          <a:p>
            <a:pPr lvl="1">
              <a:defRPr sz="1300"/>
            </a:pPr>
            <a:r>
              <a:t>• 코드 중복 제거</a:t>
            </a:r>
          </a:p>
          <a:p>
            <a:pPr lvl="1">
              <a:spcAft>
                <a:spcPts val="1000"/>
              </a:spcAft>
              <a:defRPr sz="1300"/>
            </a:pPr>
            <a:r>
              <a:t>• 일관된 감사 로그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JPA Auditing이 표준. Hibernate Envers (이력 관리)는 더 복잡한 요구사항에 적합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QueryDslConfig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QueryDSL JPAQueryFactory 빈 등록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타입 안전한 동적 쿼리 작성을 위한 QueryDSL 설정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컴파일 타임 쿼리 검증</a:t>
            </a:r>
          </a:p>
          <a:p>
            <a:pPr lvl="1">
              <a:defRPr sz="1300"/>
            </a:pPr>
            <a:r>
              <a:t>• IDE 자동완성 지원</a:t>
            </a:r>
          </a:p>
          <a:p>
            <a:pPr lvl="1">
              <a:defRPr sz="1300"/>
            </a:pPr>
            <a:r>
              <a:t>• 복잡한 동적 쿼리 작성 용이</a:t>
            </a:r>
          </a:p>
          <a:p>
            <a:pPr lvl="1">
              <a:spcAft>
                <a:spcPts val="1000"/>
              </a:spcAft>
              <a:defRPr sz="1300"/>
            </a:pPr>
            <a:r>
              <a:t>• JPQL보다 가독성 좋은 코드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JOOQ, Criteria API도 있으나, QueryDSL이 Kotlin과 Spring 생태계에서 가장 인기 있음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RedisConfig &amp; RabbitMqConfig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Redis와 RabbitMQ 연결 및 설정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캐싱, 세션 저장소(Redis) 및 비동기 메시징(RabbitMQ) 지원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RedisTemplate, StringRedisTemplate 빈 제공</a:t>
            </a:r>
          </a:p>
          <a:p>
            <a:pPr lvl="1">
              <a:defRPr sz="1300"/>
            </a:pPr>
            <a:r>
              <a:t>• RabbitTemplate, MessageConverter 설정</a:t>
            </a:r>
          </a:p>
          <a:p>
            <a:pPr lvl="1">
              <a:defRPr sz="1300"/>
            </a:pPr>
            <a:r>
              <a:t>• 연결 풀 및 타임아웃 설정</a:t>
            </a:r>
          </a:p>
          <a:p>
            <a:pPr lvl="1">
              <a:spcAft>
                <a:spcPts val="1000"/>
              </a:spcAft>
              <a:defRPr sz="1300"/>
            </a:pPr>
            <a:r>
              <a:t>• 선택적 사용 (AutoConfiguration exclude)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Redis: Lettuce(기본), Jedis. RabbitMQ: Kafka도 대안이나 용도가 다름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WebClientConfig &amp; RestTemplateConfig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HTTP 클라이언트 설정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외부 API 호출을 위한 클라이언트 빈 제공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WebClient: 비동기, 논블로킹 (Reactive)</a:t>
            </a:r>
          </a:p>
          <a:p>
            <a:pPr lvl="1">
              <a:defRPr sz="1300"/>
            </a:pPr>
            <a:r>
              <a:t>• RestTemplate: 동기, 블로킹 (전통적)</a:t>
            </a:r>
          </a:p>
          <a:p>
            <a:pPr lvl="1">
              <a:defRPr sz="1300"/>
            </a:pPr>
            <a:r>
              <a:t>• 타임아웃, 커넥션 풀 설정</a:t>
            </a:r>
          </a:p>
          <a:p>
            <a:pPr lvl="1">
              <a:spcAft>
                <a:spcPts val="1000"/>
              </a:spcAft>
              <a:defRPr sz="1300"/>
            </a:pPr>
            <a:r>
              <a:t>• 에러 핸들링 통합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WebClient가 최신 표준. RestTemplate은 유지보수 모드이나 기존 코드 호환성에 유용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@EnableAsync 및 ThreadPool 설정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비동기 메서드 실행을 위한 ThreadPoolTaskExecutor 설정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@Async 어노테이션 지원</a:t>
            </a:r>
          </a:p>
          <a:p>
            <a:pPr lvl="1">
              <a:defRPr sz="1300"/>
            </a:pPr>
            <a:r>
              <a:t>• ThreadPool 크기 최적화</a:t>
            </a:r>
          </a:p>
          <a:p>
            <a:pPr lvl="1">
              <a:defRPr sz="1300"/>
            </a:pPr>
            <a:r>
              <a:t>• Graceful Shutdown 지원</a:t>
            </a:r>
          </a:p>
          <a:p>
            <a:pPr lvl="1">
              <a:spcAft>
                <a:spcPts val="1000"/>
              </a:spcAft>
              <a:defRPr sz="1300"/>
            </a:pPr>
            <a:r>
              <a:t>• 성능 향상 (I/O 대기 작업)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Spring의 @Async가 간단. Kotlin Coroutines, Project Reactor도 대안이나 러닝 커브 존재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CORS(Cross-Origin Resource Sharing) 설정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브라우저에서 다른 도메인의 API 호출 허용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허용 Origin, Method, Header 설정</a:t>
            </a:r>
          </a:p>
          <a:p>
            <a:pPr lvl="1">
              <a:defRPr sz="1300"/>
            </a:pPr>
            <a:r>
              <a:t>• Credentials 지원</a:t>
            </a:r>
          </a:p>
          <a:p>
            <a:pPr lvl="1">
              <a:defRPr sz="1300"/>
            </a:pPr>
            <a:r>
              <a:t>• Preflight 캐싱</a:t>
            </a:r>
          </a:p>
          <a:p>
            <a:pPr lvl="1">
              <a:spcAft>
                <a:spcPts val="1000"/>
              </a:spcAft>
              <a:defRPr sz="1300"/>
            </a:pPr>
            <a:r>
              <a:t>• 보안 정책 중앙 관리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Spring의 CorsFilter 또는 @CrossOrigin 어노테이션. 전역 설정은 CorsFilter가 적합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멀티 인스턴스 환경에서 메트릭 태깅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각 인스턴스를 구분하기 위한 공통 태그 추가 (instance, host, port)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Prometheus가 인스턴스별로 메트릭 수집</a:t>
            </a:r>
          </a:p>
          <a:p>
            <a:pPr lvl="1">
              <a:defRPr sz="1300"/>
            </a:pPr>
            <a:r>
              <a:t>• Grafana에서 인스턴스별/전체 조회</a:t>
            </a:r>
          </a:p>
          <a:p>
            <a:pPr lvl="1">
              <a:defRPr sz="1300"/>
            </a:pPr>
            <a:r>
              <a:t>• Kubernetes Pod 이름 자동 주입</a:t>
            </a:r>
          </a:p>
          <a:p>
            <a:pPr lvl="1">
              <a:spcAft>
                <a:spcPts val="1000"/>
              </a:spcAft>
              <a:defRPr sz="1300"/>
            </a:pPr>
            <a:r>
              <a:t>• 운영 환경 모니터링 필수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Micrometer의 표준 기능. 멀티 인스턴스 환경에서 필수적인 설정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SwaggerConfig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SpringDoc OpenAPI 설정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자동 API 문서 생성 및 Swagger UI 제공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코드에서 자동으로 문서 생성</a:t>
            </a:r>
          </a:p>
          <a:p>
            <a:pPr lvl="1">
              <a:defRPr sz="1300"/>
            </a:pPr>
            <a:r>
              <a:t>• Swagger UI로 API 테스트</a:t>
            </a:r>
          </a:p>
          <a:p>
            <a:pPr lvl="1">
              <a:defRPr sz="1300"/>
            </a:pPr>
            <a:r>
              <a:t>• JWT 인증 스키마 설정</a:t>
            </a:r>
          </a:p>
          <a:p>
            <a:pPr lvl="1">
              <a:spcAft>
                <a:spcPts val="1000"/>
              </a:spcAft>
              <a:defRPr sz="1300"/>
            </a:pPr>
            <a:r>
              <a:t>• 환경별 서버 정보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SpringDoc (OpenAPI 3), Springfox (Swagger 2 - deprecated). SpringDoc이 최신 표준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WebMvcConfig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Spring MVC 설정 (Interceptor 등록)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RequestContext, Logging, Metrics Interceptor를 전역 등록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인터셉터 체인 구성</a:t>
            </a:r>
          </a:p>
          <a:p>
            <a:pPr lvl="1">
              <a:defRPr sz="1300"/>
            </a:pPr>
            <a:r>
              <a:t>• 요청 전/후 처리</a:t>
            </a:r>
          </a:p>
          <a:p>
            <a:pPr lvl="1">
              <a:defRPr sz="1300"/>
            </a:pPr>
            <a:r>
              <a:t>• 패턴별 인터셉터 적용</a:t>
            </a:r>
          </a:p>
          <a:p>
            <a:pPr lvl="1">
              <a:spcAft>
                <a:spcPts val="1000"/>
              </a:spcAft>
              <a:defRPr sz="1300"/>
            </a:pPr>
            <a:r>
              <a:t>• CORS, MessageConverter 등 추가 설정 가능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MVC의 표준 설정 방식. WebMvcConfigurer 인터페이스 구현이 베스트 프랙티스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com.hoji.config.properties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@ConfigurationProperties로 로깅 설정 외부화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민감 정보 마스킹 대상 헤더를 application.yml에서 관리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설정 외부화로 유연성 향상</a:t>
            </a:r>
          </a:p>
          <a:p>
            <a:pPr lvl="1">
              <a:defRPr sz="1300"/>
            </a:pPr>
            <a:r>
              <a:t>• 환경별 다른 마스킹 정책</a:t>
            </a:r>
          </a:p>
          <a:p>
            <a:pPr lvl="1">
              <a:defRPr sz="1300"/>
            </a:pPr>
            <a:r>
              <a:t>• 타입 안전한 설정</a:t>
            </a:r>
          </a:p>
          <a:p>
            <a:pPr lvl="1">
              <a:spcAft>
                <a:spcPts val="1000"/>
              </a:spcAft>
              <a:defRPr sz="1300"/>
            </a:pPr>
            <a:r>
              <a:t>• IDE 자동완성 지원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@ConfigurationProperties가 Spring Boot 표준. @Value보다 타입 안전하고 구조화됨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Domain: 도메인 엔티티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com.hoji.domain.common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모든 엔티티가 상속받는 추상 클래스 (@MappedSuperclass)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생성일시, 수정일시, 생성자, 수정자를 자동으로 관리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중복 코드 제거</a:t>
            </a:r>
          </a:p>
          <a:p>
            <a:pPr lvl="1">
              <a:defRPr sz="1300"/>
            </a:pPr>
            <a:r>
              <a:t>• JPA Auditing과 통합</a:t>
            </a:r>
          </a:p>
          <a:p>
            <a:pPr lvl="1">
              <a:defRPr sz="1300"/>
            </a:pPr>
            <a:r>
              <a:t>• @EntityListeners(AuditingEntityListener)</a:t>
            </a:r>
          </a:p>
          <a:p>
            <a:pPr lvl="1">
              <a:spcAft>
                <a:spcPts val="1000"/>
              </a:spcAft>
              <a:defRPr sz="1300"/>
            </a:pPr>
            <a:r>
              <a:t>• 모든 엔티티에 일관된 감사 필드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JPA의 @MappedSuperclass가 표준. 대안으로 @Embeddable도 가능하나 상속이 더 직관적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(예제 엔티티)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com.hoji.domain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사용자 정보를 표현하는 JPA 엔티티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베이스 프로젝트의 구조를 보여주는 예제 도메인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BaseEntity 상속으로 감사 필드 자동 관리</a:t>
            </a:r>
          </a:p>
          <a:p>
            <a:pPr lvl="1">
              <a:defRPr sz="1300"/>
            </a:pPr>
            <a:r>
              <a:t>• @Entity, @Table 어노테이션</a:t>
            </a:r>
          </a:p>
          <a:p>
            <a:pPr lvl="1">
              <a:defRPr sz="1300"/>
            </a:pPr>
            <a:r>
              <a:t>• 컬럼 제약조건 명시</a:t>
            </a:r>
          </a:p>
          <a:p>
            <a:pPr lvl="1">
              <a:spcAft>
                <a:spcPts val="1000"/>
              </a:spcAft>
              <a:defRPr sz="1300"/>
            </a:pPr>
            <a:r>
              <a:t>• Kotlin data class의 장점 활용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실제 서비스에서는 비즈니스에 맞는 도메인으로 대체. User는 참고용 예제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Repository, Service, Controller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com.hoji.repository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Spring Data JPA Repository 인터페이스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데이터 액세스 계층을 추상화하여 CRUD 자동 제공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기본 CRUD 메서드 자동 제공</a:t>
            </a:r>
          </a:p>
          <a:p>
            <a:pPr lvl="1">
              <a:defRPr sz="1300"/>
            </a:pPr>
            <a:r>
              <a:t>• 메서드 이름 기반 쿼리 생성</a:t>
            </a:r>
          </a:p>
          <a:p>
            <a:pPr lvl="1">
              <a:defRPr sz="1300"/>
            </a:pPr>
            <a:r>
              <a:t>• QueryDSL과 조합 가능</a:t>
            </a:r>
          </a:p>
          <a:p>
            <a:pPr lvl="1">
              <a:spcAft>
                <a:spcPts val="1000"/>
              </a:spcAft>
              <a:defRPr sz="1300"/>
            </a:pPr>
            <a:r>
              <a:t>• 테스트 용이성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JpaRepository가 표준. 복잡한 쿼리는 QueryDSL, @Query, 네이티브 쿼리 활용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com.hoji.service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비즈니스 로직을 처리하는 서비스 계층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컨트롤러와 레포지토리 사이에서 트랜잭션 및 비즈니스 규칙 처리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@Transactional로 트랜잭션 관리</a:t>
            </a:r>
          </a:p>
          <a:p>
            <a:pPr lvl="1">
              <a:defRPr sz="1300"/>
            </a:pPr>
            <a:r>
              <a:t>• 비즈니스 로직 캡슐화</a:t>
            </a:r>
          </a:p>
          <a:p>
            <a:pPr lvl="1">
              <a:defRPr sz="1300"/>
            </a:pPr>
            <a:r>
              <a:t>• 여러 레포지토리 조합</a:t>
            </a:r>
          </a:p>
          <a:p>
            <a:pPr lvl="1">
              <a:spcAft>
                <a:spcPts val="1000"/>
              </a:spcAft>
              <a:defRPr sz="1300"/>
            </a:pPr>
            <a:r>
              <a:t>• 테스트 가능한 구조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전통적인 3-tier 아키텍처. DDD의 Domain Service, Application Service로 분리도 가능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com.hoji.controller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REST API 엔드포인트를 제공하는 컨트롤러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HTTP 요청을 받아 서비스 계층 호출 후 ApiResponse로 응답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@RestController로 JSON 자동 변환</a:t>
            </a:r>
          </a:p>
          <a:p>
            <a:pPr lvl="1">
              <a:defRPr sz="1300"/>
            </a:pPr>
            <a:r>
              <a:t>• 일관된 ApiResponse 응답</a:t>
            </a:r>
          </a:p>
          <a:p>
            <a:pPr lvl="1">
              <a:defRPr sz="1300"/>
            </a:pPr>
            <a:r>
              <a:t>• DTO 변환으로 엔티티 노출 방지</a:t>
            </a:r>
          </a:p>
          <a:p>
            <a:pPr lvl="1">
              <a:spcAft>
                <a:spcPts val="1000"/>
              </a:spcAft>
              <a:defRPr sz="1300"/>
            </a:pPr>
            <a:r>
              <a:t>• 유효성 검증 (@Valid)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Spring MVC 표준. GraphQL, gRPC 등도 대안이나 REST가 가장 보편적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UserDto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/>
            </a:pPr>
            <a:r>
              <a:t>📦 패키지: com.hoji.controller.dto</a:t>
            </a:r>
          </a:p>
          <a:p>
            <a:pPr>
              <a:spcBef>
                <a:spcPts val="1000"/>
              </a:spcBef>
              <a:defRPr sz="1600" b="1">
                <a:solidFill>
                  <a:srgbClr val="0066CC"/>
                </a:solidFill>
              </a:defRPr>
            </a:pPr>
            <a:r>
              <a:t>🎯 역할</a:t>
            </a:r>
          </a:p>
          <a:p>
            <a:pPr lvl="1">
              <a:spcAft>
                <a:spcPts val="1000"/>
              </a:spcAft>
              <a:defRPr sz="1400"/>
            </a:pPr>
            <a:r>
              <a:t>API 요청/응답을 위한 데이터 전송 객체</a:t>
            </a:r>
          </a:p>
          <a:p>
            <a:pPr>
              <a:defRPr sz="1600" b="1">
                <a:solidFill>
                  <a:srgbClr val="00994C"/>
                </a:solidFill>
              </a:defRPr>
            </a:pPr>
            <a:r>
              <a:t>💡 사용 이유</a:t>
            </a:r>
          </a:p>
          <a:p>
            <a:pPr lvl="1">
              <a:spcAft>
                <a:spcPts val="1000"/>
              </a:spcAft>
              <a:defRPr sz="1400"/>
            </a:pPr>
            <a:r>
              <a:t>엔티티를 직접 노출하지 않고 필요한 정보만 전달</a:t>
            </a:r>
          </a:p>
          <a:p>
            <a:pPr>
              <a:defRPr sz="1600" b="1">
                <a:solidFill>
                  <a:srgbClr val="CC6600"/>
                </a:solidFill>
              </a:defRPr>
            </a:pPr>
            <a:r>
              <a:t>✅ 주요 장점</a:t>
            </a:r>
          </a:p>
          <a:p>
            <a:pPr lvl="1">
              <a:defRPr sz="1300"/>
            </a:pPr>
            <a:r>
              <a:t>• 엔티티와 API 스펙 분리</a:t>
            </a:r>
          </a:p>
          <a:p>
            <a:pPr lvl="1">
              <a:defRPr sz="1300"/>
            </a:pPr>
            <a:r>
              <a:t>• 불필요한 정보 노출 방지</a:t>
            </a:r>
          </a:p>
          <a:p>
            <a:pPr lvl="1">
              <a:defRPr sz="1300"/>
            </a:pPr>
            <a:r>
              <a:t>• 유효성 검증 어노테이션</a:t>
            </a:r>
          </a:p>
          <a:p>
            <a:pPr lvl="1">
              <a:spcAft>
                <a:spcPts val="1000"/>
              </a:spcAft>
              <a:defRPr sz="1300"/>
            </a:pPr>
            <a:r>
              <a:t>• 버전별 API 스펙 관리 용이</a:t>
            </a:r>
          </a:p>
          <a:p>
            <a:pPr>
              <a:defRPr sz="1600" b="1">
                <a:solidFill>
                  <a:srgbClr val="990099"/>
                </a:solidFill>
              </a:defRPr>
            </a:pPr>
            <a:r>
              <a:t>🔄 대안</a:t>
            </a:r>
          </a:p>
          <a:p>
            <a:pPr lvl="1">
              <a:defRPr sz="1300"/>
            </a:pPr>
            <a:r>
              <a:t>DTO 패턴이 표준. MapStruct로 변환 자동화 가능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운영 고려사항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환경별 설정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Local, Dev, Prod 프로파일 분리</a:t>
            </a:r>
          </a:p>
          <a:p>
            <a:pPr lvl="1">
              <a:defRPr sz="1600"/>
            </a:pPr>
            <a:r>
              <a:t>application.yml - 공통 설정</a:t>
            </a:r>
          </a:p>
          <a:p>
            <a:pPr lvl="1">
              <a:defRPr sz="1600"/>
            </a:pPr>
            <a:r>
              <a:t>application-{profile}.yml - 환경별 차이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Local: 디버깅 편의성</a:t>
            </a:r>
          </a:p>
          <a:p>
            <a:pPr lvl="1">
              <a:defRPr sz="1400"/>
            </a:pPr>
            <a:r>
              <a:t>H2 콘솔, DEBUG 로그, 상세 에러 정보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Dev: 개발 서버 특성</a:t>
            </a:r>
          </a:p>
          <a:p>
            <a:pPr lvl="1">
              <a:defRPr sz="1400"/>
            </a:pPr>
            <a:r>
              <a:t>적당한 로깅, 주요 Actuator 엔드포인트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Prod: 보안 및 성능</a:t>
            </a:r>
          </a:p>
          <a:p>
            <a:pPr lvl="1">
              <a:defRPr sz="1400"/>
            </a:pPr>
            <a:r>
              <a:t>최소 로깅, 에러 정보 비노출, 압축, HTTP/2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멀티 인스턴스 메트릭 관리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Prometheus + Grafana 통합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각 인스턴스 식별</a:t>
            </a:r>
          </a:p>
          <a:p>
            <a:pPr lvl="1">
              <a:defRPr sz="1600"/>
            </a:pPr>
            <a:r>
              <a:t>application, instance, host, port 태그</a:t>
            </a:r>
          </a:p>
          <a:p>
            <a:pPr lvl="1">
              <a:defRPr sz="1600"/>
            </a:pPr>
            <a:r>
              <a:t>Kubernetes Pod 이름 자동 주입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Kubernetes 배포</a:t>
            </a:r>
          </a:p>
          <a:p>
            <a:pPr lvl="1">
              <a:defRPr sz="1600"/>
            </a:pPr>
            <a:r>
              <a:t>3-replica 예시 (k8s/deployment.yml)</a:t>
            </a:r>
          </a:p>
          <a:p>
            <a:pPr lvl="1">
              <a:defRPr sz="1600"/>
            </a:pPr>
            <a:r>
              <a:t>Prometheus 자동 스크래핑 annotation</a:t>
            </a:r>
          </a:p>
          <a:p>
            <a:pPr lvl="1">
              <a:defRPr sz="1600"/>
            </a:pPr>
            <a:r>
              <a:t>Liveness/Readiness Probe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Grafana 쿼리 예시</a:t>
            </a:r>
          </a:p>
          <a:p>
            <a:pPr lvl="1">
              <a:defRPr sz="1400"/>
            </a:pPr>
            <a:r>
              <a:t>sum(api_calls_total) - 전체 합산</a:t>
            </a:r>
          </a:p>
          <a:p>
            <a:pPr lvl="1">
              <a:defRPr sz="1400"/>
            </a:pPr>
            <a:r>
              <a:t>api_calls_total{instance="hoji-api-0"} - 특정 인스턴스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Graceful Shutdown &amp; 비동기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Graceful Shutdown</a:t>
            </a:r>
          </a:p>
          <a:p>
            <a:pPr lvl="1">
              <a:defRPr sz="1600"/>
            </a:pPr>
            <a:r>
              <a:t>server.shutdown: graceful</a:t>
            </a:r>
          </a:p>
          <a:p>
            <a:pPr lvl="1">
              <a:defRPr sz="1600"/>
            </a:pPr>
            <a:r>
              <a:t>timeout-per-shutdown-phase: 30s</a:t>
            </a:r>
          </a:p>
          <a:p>
            <a:pPr lvl="1">
              <a:defRPr sz="1600"/>
            </a:pPr>
            <a:r>
              <a:t>진행 중인 요청 완료 후 종료</a:t>
            </a:r>
          </a:p>
          <a:p>
            <a:pPr lvl="1">
              <a:defRPr sz="1600"/>
            </a:pPr>
            <a:r>
              <a:t>무중단 배포 지원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비동기 처리 (@Async)</a:t>
            </a:r>
          </a:p>
          <a:p>
            <a:pPr lvl="1">
              <a:defRPr sz="1600"/>
            </a:pPr>
            <a:r>
              <a:t>ThreadPool 최적화 (core: 5, max: 10)</a:t>
            </a:r>
          </a:p>
          <a:p>
            <a:pPr lvl="1">
              <a:defRPr sz="1600"/>
            </a:pPr>
            <a:r>
              <a:t>이메일, 알림 등 I/O 작업 비동기 처리</a:t>
            </a:r>
          </a:p>
          <a:p>
            <a:pPr lvl="1">
              <a:defRPr sz="1600"/>
            </a:pPr>
            <a:r>
              <a:t>Graceful Shutdown과 통합</a:t>
            </a:r>
          </a:p>
          <a:p>
            <a:pPr lvl="1">
              <a:defRPr sz="1600"/>
            </a:pPr>
            <a:r>
              <a:t>응답 속도 향상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보안 고려사항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CORS 설정</a:t>
            </a:r>
          </a:p>
          <a:p>
            <a:pPr lvl="1">
              <a:defRPr sz="1600"/>
            </a:pPr>
            <a:r>
              <a:t>허용 Origin, Method 명시</a:t>
            </a:r>
          </a:p>
          <a:p>
            <a:pPr lvl="1">
              <a:defRPr sz="1600"/>
            </a:pPr>
            <a:r>
              <a:t>Credentials 지원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민감 정보 마스킹</a:t>
            </a:r>
          </a:p>
          <a:p>
            <a:pPr lvl="1">
              <a:defRPr sz="1600"/>
            </a:pPr>
            <a:r>
              <a:t>Authorization, Cookie 등 헤더 마스킹</a:t>
            </a:r>
          </a:p>
          <a:p>
            <a:pPr lvl="1">
              <a:defRPr sz="1600"/>
            </a:pPr>
            <a:r>
              <a:t>환경별 마스킹 정책 (LoggingProperties)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Prod 환경 보안 강화</a:t>
            </a:r>
          </a:p>
          <a:p>
            <a:pPr lvl="1">
              <a:defRPr sz="1600"/>
            </a:pPr>
            <a:r>
              <a:t>에러 스택트레이스 비노출</a:t>
            </a:r>
          </a:p>
          <a:p>
            <a:pPr lvl="1">
              <a:defRPr sz="1600"/>
            </a:pPr>
            <a:r>
              <a:t>H2 콘솔 비활성화</a:t>
            </a:r>
          </a:p>
          <a:p>
            <a:pPr lvl="1">
              <a:defRPr sz="1600"/>
            </a:pPr>
            <a:r>
              <a:t>최소 Actuator 엔드포인트만 노출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82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요약 및 결론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베이스 프로젝트의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일관성</a:t>
            </a:r>
          </a:p>
          <a:p>
            <a:pPr lvl="1">
              <a:defRPr sz="1600"/>
            </a:pPr>
            <a:r>
              <a:t>모든 서비스가 동일한 구조와 규칙 사용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생산성</a:t>
            </a:r>
          </a:p>
          <a:p>
            <a:pPr lvl="1">
              <a:defRPr sz="1600"/>
            </a:pPr>
            <a:r>
              <a:t>공통 기능 재구현 불필요</a:t>
            </a:r>
          </a:p>
          <a:p>
            <a:pPr lvl="1">
              <a:defRPr sz="1600"/>
            </a:pPr>
            <a:r>
              <a:t>새 서비스 시작 시간 단축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품질</a:t>
            </a:r>
          </a:p>
          <a:p>
            <a:pPr lvl="1">
              <a:defRPr sz="1600"/>
            </a:pPr>
            <a:r>
              <a:t>검증된 패턴과 베스트 프랙티스</a:t>
            </a:r>
          </a:p>
          <a:p>
            <a:pPr lvl="1">
              <a:defRPr sz="1600"/>
            </a:pPr>
            <a:r>
              <a:t>운영 환경을 고려한 설계</a:t>
            </a:r>
          </a:p>
          <a:p>
            <a:pPr>
              <a:defRPr sz="1000"/>
            </a:pPr>
          </a:p>
          <a:p>
            <a:pPr>
              <a:defRPr sz="2000"/>
            </a:pPr>
            <a:r>
              <a:t>확장성</a:t>
            </a:r>
          </a:p>
          <a:p>
            <a:pPr lvl="1">
              <a:defRPr sz="1600"/>
            </a:pPr>
            <a:r>
              <a:t>멀티 인스턴스, 모니터링, 로깅 기반 마련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확장 가능성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인증/인가</a:t>
            </a:r>
          </a:p>
          <a:p>
            <a:pPr lvl="1">
              <a:defRPr sz="1600"/>
            </a:pPr>
            <a:r>
              <a:t>Spring Security + JWT</a:t>
            </a:r>
          </a:p>
          <a:p>
            <a:pPr lvl="1">
              <a:defRPr sz="1600"/>
            </a:pPr>
            <a:r>
              <a:t>OAuth 2.0, OIDC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분산 추적</a:t>
            </a:r>
          </a:p>
          <a:p>
            <a:pPr lvl="1">
              <a:defRPr sz="1600"/>
            </a:pPr>
            <a:r>
              <a:t>Spring Cloud Sleuth + Zipkin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중앙 로그 관리</a:t>
            </a:r>
          </a:p>
          <a:p>
            <a:pPr lvl="1">
              <a:defRPr sz="1600"/>
            </a:pPr>
            <a:r>
              <a:t>ELK Stack (Elasticsearch, Logstash, Kibana)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데이터베이스 마이그레이션</a:t>
            </a:r>
          </a:p>
          <a:p>
            <a:pPr lvl="1">
              <a:defRPr sz="1600"/>
            </a:pPr>
            <a:r>
              <a:t>Flyway 또는 Liquibase</a:t>
            </a:r>
          </a:p>
          <a:p>
            <a:pPr>
              <a:defRPr sz="1000"/>
            </a:pPr>
          </a:p>
          <a:p>
            <a:pPr>
              <a:defRPr sz="1800"/>
            </a:pPr>
            <a:r>
              <a:t>API 버저닝</a:t>
            </a:r>
          </a:p>
          <a:p>
            <a:pPr lvl="1">
              <a:defRPr sz="1600"/>
            </a:pPr>
            <a:r>
              <a:t>URL 버저닝, Header 버저닝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질문이 있으시면 언제든지 문의해 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